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40080" y="640080"/>
            <a:ext cx="320040" cy="320040"/>
          </a:xfrm>
          <a:prstGeom prst="ellipse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097280" y="640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UBER EATS  ·  MEXICO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ATD OPTIMISATION  ·  Q1 2026  ·  ISSUE 01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does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40080" y="338328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8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the time go?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40080" y="493776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What ~1 million Mexico deliveries say about delivery time, and the three plays that get it back.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640080" y="6355080"/>
            <a:ext cx="1091153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AUTOMATION &amp; ANALYTICS  ·  BUSINESS CASE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APRIL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01 · THE PROBLEM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92640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02 / 10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01 · THE PROBLEM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ATD matters more in Mexico than anywhere else.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Mexico is the second-largest delivery market in Latin America, and Uber Eats is fighting Didi Food and Rappi for share. Every minute of ATD is retention we don't earn.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640080" y="2606040"/>
            <a:ext cx="2556433" cy="18288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640080" y="2606040"/>
            <a:ext cx="2556433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914400" y="2834640"/>
            <a:ext cx="2007793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33.8 min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14400" y="3657600"/>
            <a:ext cx="200779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MEDIAN ATD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3977639"/>
            <a:ext cx="20077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Half of orders take longer.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3425113" y="2606040"/>
            <a:ext cx="2556433" cy="18288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3425113" y="2606040"/>
            <a:ext cx="2556433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3699433" y="2834640"/>
            <a:ext cx="2007793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58.7 min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699433" y="3657600"/>
            <a:ext cx="200779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P90 ATD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3699433" y="3977639"/>
            <a:ext cx="20077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1 in 10 crosses the hour.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6210146" y="2606040"/>
            <a:ext cx="2556433" cy="18288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6210146" y="2606040"/>
            <a:ext cx="2556433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484466" y="2834640"/>
            <a:ext cx="2007793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484466" y="3657600"/>
            <a:ext cx="200779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ORDERS &gt; 45 MIN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484466" y="3977639"/>
            <a:ext cx="20077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The slow tail customers feel.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8995179" y="2606040"/>
            <a:ext cx="2556433" cy="18288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8995179" y="2606040"/>
            <a:ext cx="2556433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9269499" y="2834640"/>
            <a:ext cx="2007793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9%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269499" y="3657600"/>
            <a:ext cx="200779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ORDERS &gt; 60 MIN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9269499" y="3977639"/>
            <a:ext cx="20077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Where ops loses NPS.</a:t>
            </a:r>
            <a:endParaRPr/>
          </a:p>
        </p:txBody>
      </p:sp>
      <p:pic>
        <p:nvPicPr>
          <p:cNvPr descr="distribution.png" id="127" name="Google Shape;1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617720"/>
            <a:ext cx="694944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/>
        </p:nvSpPr>
        <p:spPr>
          <a:xfrm>
            <a:off x="7863840" y="4617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7863840" y="4983480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The shape is right-skewed. A long tail of slow orders pulls the mean above the median.</a:t>
            </a:r>
            <a:b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Cross-platform users (Mobility plus Eats) spend 3x more and retain 35% better. A reliable Eats experience is what turns a Mobility user into a cross-platform user.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02 · VOLUME OR VARIANCE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9692640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03 / 10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02 · VOLUME, NOT VARIANCE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slowest segments are not where the volume lives.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Fleet runs at 50 minutes. It's also 0.1% of orders. Motorbike runs the business and it runs it well.</a:t>
            </a:r>
            <a:endParaRPr/>
          </a:p>
        </p:txBody>
      </p:sp>
      <p:pic>
        <p:nvPicPr>
          <p:cNvPr descr="courier_flow_volume.png" id="142" name="Google Shape;1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86000"/>
            <a:ext cx="768096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8321040" y="22860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WHERE THE ORDERS ACTUALLY GO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321040" y="2697480"/>
            <a:ext cx="3383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84.5%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8321040" y="36576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of orders run on Motorbike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8321040" y="416052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Half a minute off Motorbike beats anything we could do to Fleet or UberX combined.</a:t>
            </a:r>
            <a:b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The 19-minute Logistics-to-Fleet spread is real but it lives in 0.5% of orders. Optimise where the volume is, then move UberEats (8.6%) toward Motorbike timing.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914400" y="573328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WHAT TO DO ABOUT IT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914400" y="5989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Protect the Motorbike experience first. Move UberEats orders toward Motorbike-equivalent ETAs second. Stop chasing variance in the long tail of small flows.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03 · WHEN OPS STRESSES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692640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04 / 10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03 · WHEN OPS STRESSES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Demand peaks aren't the problem. Supply gaps are.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Lunch and dinner peaks get absorbed. Late nights and Sunday are when ATD slips.</a:t>
            </a:r>
            <a:endParaRPr/>
          </a:p>
        </p:txBody>
      </p:sp>
      <p:pic>
        <p:nvPicPr>
          <p:cNvPr descr="hour_pattern.png"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377440"/>
            <a:ext cx="658368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548640" y="51663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HOUR OF DAY</a:t>
            </a:r>
            <a:endParaRPr/>
          </a:p>
        </p:txBody>
      </p:sp>
      <p:pic>
        <p:nvPicPr>
          <p:cNvPr descr="dow.png" id="164" name="Google Shape;16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0880" y="2377440"/>
            <a:ext cx="49377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7223760" y="46177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DAY OF WEEK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7223760" y="4892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Mon-Thu 32.4 to 33.1. Fri 34.4. Sun 35.8.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914400" y="573328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STORY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914400" y="5989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 supply against the curve. Sunday adds 2 minutes. 4 AM hits 41 minutes because couriers aren't online. Pair forecasts with proactive incentives 90 minutes ahead.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04 · LA QUINCENA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692640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05 / 10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04 · LA QUINCENA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 quincena barely moves the dial in this window.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Mexicans get paid on the 15th and the last day of each month, shifted to the preceding Friday when those land on a weekend. We collapsed every day onto its position vs the nearest effective pay day.</a:t>
            </a:r>
            <a:endParaRPr/>
          </a:p>
        </p:txBody>
      </p:sp>
      <p:pic>
        <p:nvPicPr>
          <p:cNvPr descr="payday.png" id="182" name="Google Shape;18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377440"/>
            <a:ext cx="731520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/>
          <p:nvPr/>
        </p:nvSpPr>
        <p:spPr>
          <a:xfrm>
            <a:off x="8229600" y="2377440"/>
            <a:ext cx="3383280" cy="9601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8229600" y="2377440"/>
            <a:ext cx="338328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8412480" y="251460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86F00"/>
                </a:solidFill>
                <a:latin typeface="Calibri"/>
                <a:ea typeface="Calibri"/>
                <a:cs typeface="Calibri"/>
                <a:sym typeface="Calibri"/>
              </a:rPr>
              <a:t>SAMPLE SIZE NOTE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8412480" y="278892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Only 3 actual pay days in this 2-month window. Treat any pattern as directional, not conclusive.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8229600" y="36118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PAY-DAY WINDOW VS OTHER DAYS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8229600" y="388620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+0.1 min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8229600" y="44348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Pay-day window (-1, 0, +1) vs the rest of the month. Effectively flat.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8229600" y="50749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VOLUME LIFT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8229600" y="53492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+0.5%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8229600" y="58978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vs other days. Not a meaningful spike.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05 · THE SLOW TAIL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9692640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06 / 10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05 · THE SLOW TAIL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Same trips, different times. That's coachable.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Even on similar-length trips, the slowest 10% of couriers take 7.3 minutes longer than the typical courier.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640080" y="2423160"/>
            <a:ext cx="3454298" cy="12801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40080" y="2423160"/>
            <a:ext cx="3454298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868680" y="2560320"/>
            <a:ext cx="29970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25.1 min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868680" y="3200400"/>
            <a:ext cx="29970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P10  ·  TOP DECILE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868680" y="3474720"/>
            <a:ext cx="29970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Fastest 10%</a:t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4368698" y="2423160"/>
            <a:ext cx="3454298" cy="12801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4368698" y="2423160"/>
            <a:ext cx="3454298" cy="548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4597298" y="2560320"/>
            <a:ext cx="29970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31.4 min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4597298" y="3200400"/>
            <a:ext cx="29970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P50  ·  TYPICAL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4597298" y="3474720"/>
            <a:ext cx="29970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Median courier</a:t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8097316" y="2423160"/>
            <a:ext cx="3454298" cy="12801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8097316" y="2423160"/>
            <a:ext cx="3454298" cy="54864"/>
          </a:xfrm>
          <a:prstGeom prst="rect">
            <a:avLst/>
          </a:prstGeom>
          <a:solidFill>
            <a:srgbClr val="F46A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8325916" y="2560320"/>
            <a:ext cx="299709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38.7 min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8325916" y="3200400"/>
            <a:ext cx="29970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46A4E"/>
                </a:solidFill>
                <a:latin typeface="Calibri"/>
                <a:ea typeface="Calibri"/>
                <a:cs typeface="Calibri"/>
                <a:sym typeface="Calibri"/>
              </a:rPr>
              <a:t>P90  ·  SLOW DECILE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8325916" y="3474720"/>
            <a:ext cx="29970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+7.3 min vs typical</a:t>
            </a:r>
            <a:endParaRPr/>
          </a:p>
        </p:txBody>
      </p:sp>
      <p:pic>
        <p:nvPicPr>
          <p:cNvPr descr="slow_tail.png" id="220" name="Google Shape;2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3931920"/>
            <a:ext cx="731520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8229600" y="39319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DISTANCE-CONTROLLED</a:t>
            </a:r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8229600" y="4206240"/>
            <a:ext cx="33832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Slow couriers do average 6.7 km trips vs 3.5 km for the top decile. So distance explains some of the gap.</a:t>
            </a:r>
            <a:b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But not all of it. Inside any distance band, the p90 to p50 gap stays around 5 to 7 minutes. Field Ops can act on this with scorecards, route coaching, and re-tenuring.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06 · DISTANCE PHYSICS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9692640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07 / 10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06 · DISTANCE PHYSICS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dropoff leg pulls 2.5x harder than pickup.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Each kilometre on the dropoff costs about 2.5 minutes. Each kilometre on the pickup costs about 2.0 minutes.</a:t>
            </a:r>
            <a:endParaRPr/>
          </a:p>
        </p:txBody>
      </p:sp>
      <p:pic>
        <p:nvPicPr>
          <p:cNvPr descr="distance.png" id="235" name="Google Shape;23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286000"/>
            <a:ext cx="731520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 txBox="1"/>
          <p:nvPr/>
        </p:nvSpPr>
        <p:spPr>
          <a:xfrm>
            <a:off x="8229600" y="22860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CORRELATION WITH ATD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8229600" y="26060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Pickup  0.17    Dropoff  0.43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8229600" y="30632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Dropoff is the stronger signal.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8229600" y="36576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READING THE MARKERS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8229600" y="3931920"/>
            <a:ext cx="33832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At 5 km a typical pickup takes 41 minutes and a dropoff takes 36.</a:t>
            </a:r>
            <a:b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At 10 km the pickup leg climbs to 51 minutes. Dropoff climbs to 48. Each extra kilometre on dropoff is 2.5 minutes of customer wait.</a:t>
            </a:r>
            <a:b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Neither correlation crosses 0.5. Distance is the floor, not the ceiling.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640080" y="5623560"/>
            <a:ext cx="10881360" cy="6858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914400" y="5733288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914400" y="5989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Half of ATD variation has nothing to do with distance. That gap is restaurant prep, dispatch latency, traffic, and courier behaviour. Operating model, not maps.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07 · HOW THE SYSTEM RUNS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9692640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08 / 10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07 · HOW THE SYSTEM RUNS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Built once. Re-runs every Monday with zero changes.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One SQL query, one Airflow DAG, one model. Same dashboard the team is looking at right now.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640080" y="2331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TASK 1  ·  THE SQL PIPELINE</a:t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>
            <a:off x="640080" y="2697480"/>
            <a:ext cx="6766560" cy="23317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777240" y="2834640"/>
            <a:ext cx="91440" cy="91440"/>
          </a:xfrm>
          <a:prstGeom prst="ellipse">
            <a:avLst/>
          </a:prstGeom>
          <a:solidFill>
            <a:srgbClr val="F46A4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914400" y="2834640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051560" y="2834640"/>
            <a:ext cx="91440" cy="91440"/>
          </a:xfrm>
          <a:prstGeom prst="ellipse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1828800" y="278892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atd_weekly.sql</a:t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868680" y="3063240"/>
            <a:ext cx="64008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COALESCE(c.territory, 'Unspecified') AS territory,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d.country_name, t.workflow_uuid, t.driver_uuid,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t.delivery_trip_uuid, t.courier_flow,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t.restaurant_offered_timestamp_utc,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t.order_final_state_timestamp_local,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t.geo_archetype, t.merchant_surface,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m.pickupdistance / 1000.0 AS pickup_distance,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m.traveldistance / 1000.0 AS dropoff_distance,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TIMESTAMPDIFF(MINUTE,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t.restaurant_offered_timestamp_utc,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t.order_final_state_timestamp_local) AS ATD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FROM tmp.lea_trips_scope_atd_consolidation_v2 t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INNER JOIN delivery_matching.eats_dispatch_metrics_job_message m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ON t.workflow_uuid = m.jobuuid AND m.isfinalplan = TRUE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INNER JOIN dwh.dim_city d ON m.cityid = d.city_id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LEFT JOIN kirby_external_data.cities_strategy_region c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ON d.city_id = c.city_id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WHERE d.country_name = 'Mexico'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AND DATE(t.eater_request_timestamp_local) BETWEEN</a:t>
            </a:r>
            <a:b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6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DATE_SUB(DATE('{{ ds }}'), 7) AND DATE_SUB(DATE('{{ ds }}'), 1);</a:t>
            </a:r>
            <a:endParaRPr/>
          </a:p>
        </p:txBody>
      </p:sp>
      <p:sp>
        <p:nvSpPr>
          <p:cNvPr id="263" name="Google Shape;263;p20"/>
          <p:cNvSpPr txBox="1"/>
          <p:nvPr/>
        </p:nvSpPr>
        <p:spPr>
          <a:xfrm>
            <a:off x="640080" y="507492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WEEKLY RHYTHM  ·  AIRFLOW DAG, MONDAYS 03:00 UTC</a:t>
            </a:r>
            <a:endParaRPr/>
          </a:p>
        </p:txBody>
      </p:sp>
      <p:sp>
        <p:nvSpPr>
          <p:cNvPr id="264" name="Google Shape;264;p20"/>
          <p:cNvSpPr/>
          <p:nvPr/>
        </p:nvSpPr>
        <p:spPr>
          <a:xfrm>
            <a:off x="640080" y="5440680"/>
            <a:ext cx="1097280" cy="9601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640080" y="5440680"/>
            <a:ext cx="1097280" cy="36576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713232" y="557784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1. Freshness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713232" y="5852160"/>
            <a:ext cx="9509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Sources fresh?</a:t>
            </a:r>
            <a:endParaRPr/>
          </a:p>
        </p:txBody>
      </p:sp>
      <p:sp>
        <p:nvSpPr>
          <p:cNvPr id="268" name="Google Shape;268;p20"/>
          <p:cNvSpPr/>
          <p:nvPr/>
        </p:nvSpPr>
        <p:spPr>
          <a:xfrm>
            <a:off x="1783080" y="5440680"/>
            <a:ext cx="1097280" cy="9601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1783080" y="5440680"/>
            <a:ext cx="1097280" cy="36576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1856232" y="557784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2. Build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1856232" y="5852160"/>
            <a:ext cx="9509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query, write staging</a:t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2926080" y="5440680"/>
            <a:ext cx="1097280" cy="9601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2926080" y="5440680"/>
            <a:ext cx="1097280" cy="36576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2999232" y="557784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3. DQ gate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2999232" y="5852160"/>
            <a:ext cx="9509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 before swap</a:t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4069080" y="5440680"/>
            <a:ext cx="1097280" cy="9601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4069080" y="5440680"/>
            <a:ext cx="1097280" cy="36576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4142232" y="557784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4. Swap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4142232" y="5852160"/>
            <a:ext cx="9509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Rename staging to prod</a:t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5212080" y="5440680"/>
            <a:ext cx="1097280" cy="9601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5212080" y="5440680"/>
            <a:ext cx="1097280" cy="36576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5285232" y="557784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5. Retrain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5285232" y="5852160"/>
            <a:ext cx="9509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Refresh model + score</a:t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6355080" y="5440680"/>
            <a:ext cx="1097280" cy="9601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6355080" y="5440680"/>
            <a:ext cx="1097280" cy="36576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6428232" y="557784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6. Notify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6428232" y="5852160"/>
            <a:ext cx="9509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Slack summary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7772400" y="233172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TASK 3 (BONUS)  ·  THE MODEL</a:t>
            </a: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7772400" y="2697480"/>
            <a:ext cx="3840480" cy="141732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7772400" y="2697480"/>
            <a:ext cx="3840480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8046720" y="288036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MAE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8046720" y="320040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10.4 min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8046720" y="37947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60% of predictions within 10 minutes</a:t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7772400" y="4251960"/>
            <a:ext cx="1219200" cy="5943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7772400" y="4251960"/>
            <a:ext cx="36576" cy="59436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7882128" y="4297680"/>
            <a:ext cx="103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/>
          </a:p>
        </p:txBody>
      </p:sp>
      <p:sp>
        <p:nvSpPr>
          <p:cNvPr id="297" name="Google Shape;297;p20"/>
          <p:cNvSpPr txBox="1"/>
          <p:nvPr/>
        </p:nvSpPr>
        <p:spPr>
          <a:xfrm>
            <a:off x="7882128" y="4507992"/>
            <a:ext cx="103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0.29</a:t>
            </a: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9083040" y="4251960"/>
            <a:ext cx="1219200" cy="5943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9083040" y="4251960"/>
            <a:ext cx="36576" cy="59436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9192768" y="4297680"/>
            <a:ext cx="103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vs median</a:t>
            </a:r>
            <a:endParaRPr/>
          </a:p>
        </p:txBody>
      </p:sp>
      <p:sp>
        <p:nvSpPr>
          <p:cNvPr id="301" name="Google Shape;301;p20"/>
          <p:cNvSpPr txBox="1"/>
          <p:nvPr/>
        </p:nvSpPr>
        <p:spPr>
          <a:xfrm>
            <a:off x="9192768" y="4507992"/>
            <a:ext cx="103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−2.0 min</a:t>
            </a:r>
            <a:endParaRPr/>
          </a:p>
        </p:txBody>
      </p:sp>
      <p:sp>
        <p:nvSpPr>
          <p:cNvPr id="302" name="Google Shape;302;p20"/>
          <p:cNvSpPr/>
          <p:nvPr/>
        </p:nvSpPr>
        <p:spPr>
          <a:xfrm>
            <a:off x="10393680" y="4251960"/>
            <a:ext cx="1219200" cy="5943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10393680" y="4251960"/>
            <a:ext cx="36576" cy="594360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0"/>
          <p:cNvSpPr txBox="1"/>
          <p:nvPr/>
        </p:nvSpPr>
        <p:spPr>
          <a:xfrm>
            <a:off x="10503408" y="4297680"/>
            <a:ext cx="103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vs distance LR</a:t>
            </a:r>
            <a:endParaRPr/>
          </a:p>
        </p:txBody>
      </p:sp>
      <p:sp>
        <p:nvSpPr>
          <p:cNvPr id="305" name="Google Shape;305;p20"/>
          <p:cNvSpPr txBox="1"/>
          <p:nvPr/>
        </p:nvSpPr>
        <p:spPr>
          <a:xfrm>
            <a:off x="10503408" y="4507992"/>
            <a:ext cx="103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−0.9 min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7772400" y="50292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WHAT TO READ INTO IT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7772400" y="530352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R² of 0.29 reads modest in isolation, but the model beats every simpler baseline. The remaining gap is data we don't have yet: live traffic, kitchen prep, batching state.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640080" y="6446520"/>
            <a:ext cx="1091153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640080" y="65379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08 · INSIGHT TO ACTION</a:t>
            </a:r>
            <a:endParaRPr/>
          </a:p>
        </p:txBody>
      </p:sp>
      <p:sp>
        <p:nvSpPr>
          <p:cNvPr id="316" name="Google Shape;316;p21"/>
          <p:cNvSpPr txBox="1"/>
          <p:nvPr/>
        </p:nvSpPr>
        <p:spPr>
          <a:xfrm>
            <a:off x="9692640" y="6537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09 / 10</a:t>
            </a:r>
            <a:endParaRPr/>
          </a:p>
        </p:txBody>
      </p:sp>
      <p:sp>
        <p:nvSpPr>
          <p:cNvPr id="317" name="Google Shape;317;p2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08 · INSIGHT TO ACTION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plays, ordered by impact.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Each one is sized in minutes saved, owned by a specific team, and trackable on the same dashboard from week one.</a:t>
            </a:r>
            <a:endParaRPr/>
          </a:p>
        </p:txBody>
      </p:sp>
      <p:sp>
        <p:nvSpPr>
          <p:cNvPr id="320" name="Google Shape;320;p21"/>
          <p:cNvSpPr/>
          <p:nvPr/>
        </p:nvSpPr>
        <p:spPr>
          <a:xfrm>
            <a:off x="640080" y="2286000"/>
            <a:ext cx="3454298" cy="42062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640080" y="2286000"/>
            <a:ext cx="3454298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914400" y="2514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>
            <a:off x="1554480" y="2606040"/>
            <a:ext cx="235701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From slide 6</a:t>
            </a:r>
            <a:endParaRPr/>
          </a:p>
        </p:txBody>
      </p:sp>
      <p:sp>
        <p:nvSpPr>
          <p:cNvPr id="325" name="Google Shape;325;p21"/>
          <p:cNvSpPr txBox="1"/>
          <p:nvPr/>
        </p:nvSpPr>
        <p:spPr>
          <a:xfrm>
            <a:off x="914400" y="3154680"/>
            <a:ext cx="290565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Coach the slow tail</a:t>
            </a:r>
            <a:endParaRPr/>
          </a:p>
        </p:txBody>
      </p:sp>
      <p:sp>
        <p:nvSpPr>
          <p:cNvPr id="326" name="Google Shape;326;p21"/>
          <p:cNvSpPr txBox="1"/>
          <p:nvPr/>
        </p:nvSpPr>
        <p:spPr>
          <a:xfrm>
            <a:off x="914400" y="3977639"/>
            <a:ext cx="290565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p90 couriers run 7.3 minutes slower than typical even on similar trips. Surface scorecards to Field Ops weekly. Route coaching, hot-zone hints, re-tenuring.</a:t>
            </a:r>
            <a:endParaRPr/>
          </a:p>
        </p:txBody>
      </p:sp>
      <p:sp>
        <p:nvSpPr>
          <p:cNvPr id="327" name="Google Shape;327;p21"/>
          <p:cNvSpPr txBox="1"/>
          <p:nvPr/>
        </p:nvSpPr>
        <p:spPr>
          <a:xfrm>
            <a:off x="914400" y="5440680"/>
            <a:ext cx="29056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/>
          </a:p>
        </p:txBody>
      </p:sp>
      <p:sp>
        <p:nvSpPr>
          <p:cNvPr id="328" name="Google Shape;328;p21"/>
          <p:cNvSpPr txBox="1"/>
          <p:nvPr/>
        </p:nvSpPr>
        <p:spPr>
          <a:xfrm>
            <a:off x="914400" y="5650992"/>
            <a:ext cx="29056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Courier Operations</a:t>
            </a:r>
            <a:endParaRPr/>
          </a:p>
        </p:txBody>
      </p:sp>
      <p:sp>
        <p:nvSpPr>
          <p:cNvPr id="329" name="Google Shape;329;p21"/>
          <p:cNvSpPr txBox="1"/>
          <p:nvPr/>
        </p:nvSpPr>
        <p:spPr>
          <a:xfrm>
            <a:off x="914400" y="5989320"/>
            <a:ext cx="29056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/>
          </a:p>
        </p:txBody>
      </p:sp>
      <p:sp>
        <p:nvSpPr>
          <p:cNvPr id="330" name="Google Shape;330;p21"/>
          <p:cNvSpPr txBox="1"/>
          <p:nvPr/>
        </p:nvSpPr>
        <p:spPr>
          <a:xfrm>
            <a:off x="914400" y="6199632"/>
            <a:ext cx="29056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−2 min global median  ·  Ongoing</a:t>
            </a:r>
            <a:endParaRPr/>
          </a:p>
        </p:txBody>
      </p:sp>
      <p:sp>
        <p:nvSpPr>
          <p:cNvPr id="331" name="Google Shape;331;p21"/>
          <p:cNvSpPr/>
          <p:nvPr/>
        </p:nvSpPr>
        <p:spPr>
          <a:xfrm>
            <a:off x="4368698" y="2286000"/>
            <a:ext cx="3454298" cy="42062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4368698" y="2286000"/>
            <a:ext cx="3454298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4643018" y="2514600"/>
            <a:ext cx="502920" cy="502920"/>
          </a:xfrm>
          <a:prstGeom prst="ellipse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4643018" y="2514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35" name="Google Shape;335;p21"/>
          <p:cNvSpPr txBox="1"/>
          <p:nvPr/>
        </p:nvSpPr>
        <p:spPr>
          <a:xfrm>
            <a:off x="5283098" y="2606040"/>
            <a:ext cx="235701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From the dashboard</a:t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4643018" y="3154680"/>
            <a:ext cx="290565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Move slow merchants to POS</a:t>
            </a:r>
            <a:endParaRPr/>
          </a:p>
        </p:txBody>
      </p:sp>
      <p:sp>
        <p:nvSpPr>
          <p:cNvPr id="337" name="Google Shape;337;p21"/>
          <p:cNvSpPr txBox="1"/>
          <p:nvPr/>
        </p:nvSpPr>
        <p:spPr>
          <a:xfrm>
            <a:off x="4643018" y="3977639"/>
            <a:ext cx="290565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POS is about 6 minutes faster than the 'Other' surface. The slow non-POS list is finite (~20% of merchants). Assign a Merchant Success rep, prioritise volume.</a:t>
            </a:r>
            <a:endParaRPr/>
          </a:p>
        </p:txBody>
      </p:sp>
      <p:sp>
        <p:nvSpPr>
          <p:cNvPr id="338" name="Google Shape;338;p21"/>
          <p:cNvSpPr txBox="1"/>
          <p:nvPr/>
        </p:nvSpPr>
        <p:spPr>
          <a:xfrm>
            <a:off x="4643018" y="5440680"/>
            <a:ext cx="29056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/>
          </a:p>
        </p:txBody>
      </p:sp>
      <p:sp>
        <p:nvSpPr>
          <p:cNvPr id="339" name="Google Shape;339;p21"/>
          <p:cNvSpPr txBox="1"/>
          <p:nvPr/>
        </p:nvSpPr>
        <p:spPr>
          <a:xfrm>
            <a:off x="4643018" y="5650992"/>
            <a:ext cx="29056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Merchant Success</a:t>
            </a:r>
            <a:endParaRPr/>
          </a:p>
        </p:txBody>
      </p:sp>
      <p:sp>
        <p:nvSpPr>
          <p:cNvPr id="340" name="Google Shape;340;p21"/>
          <p:cNvSpPr txBox="1"/>
          <p:nvPr/>
        </p:nvSpPr>
        <p:spPr>
          <a:xfrm>
            <a:off x="4643018" y="5989320"/>
            <a:ext cx="29056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4643018" y="6199632"/>
            <a:ext cx="29056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−4 min on the cohort  ·  8 to 10 weeks</a:t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8097316" y="2286000"/>
            <a:ext cx="3454298" cy="420624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8097316" y="2286000"/>
            <a:ext cx="3454298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8371636" y="2514600"/>
            <a:ext cx="502920" cy="502920"/>
          </a:xfrm>
          <a:prstGeom prst="ellipse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8371636" y="2514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46" name="Google Shape;346;p21"/>
          <p:cNvSpPr txBox="1"/>
          <p:nvPr/>
        </p:nvSpPr>
        <p:spPr>
          <a:xfrm>
            <a:off x="9011716" y="2606040"/>
            <a:ext cx="235701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From slides 4 &amp; 5</a:t>
            </a:r>
            <a:endParaRPr/>
          </a:p>
        </p:txBody>
      </p:sp>
      <p:sp>
        <p:nvSpPr>
          <p:cNvPr id="347" name="Google Shape;347;p21"/>
          <p:cNvSpPr txBox="1"/>
          <p:nvPr/>
        </p:nvSpPr>
        <p:spPr>
          <a:xfrm>
            <a:off x="8371636" y="3154680"/>
            <a:ext cx="290565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Schedule supply, not algorithms</a:t>
            </a:r>
            <a:endParaRPr/>
          </a:p>
        </p:txBody>
      </p:sp>
      <p:sp>
        <p:nvSpPr>
          <p:cNvPr id="348" name="Google Shape;348;p21"/>
          <p:cNvSpPr txBox="1"/>
          <p:nvPr/>
        </p:nvSpPr>
        <p:spPr>
          <a:xfrm>
            <a:off x="8371636" y="3977639"/>
            <a:ext cx="2905658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Sunday adds 2 min. Late night adds 8 min. The day before pay day adds 1.5. Pair forecasts with proactive incentives 90 minutes before each curve climbs.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8371636" y="5440680"/>
            <a:ext cx="29056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8371636" y="5650992"/>
            <a:ext cx="29056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Dispatch + Driver Ops</a:t>
            </a:r>
            <a:endParaRPr/>
          </a:p>
        </p:txBody>
      </p:sp>
      <p:sp>
        <p:nvSpPr>
          <p:cNvPr id="351" name="Google Shape;351;p21"/>
          <p:cNvSpPr txBox="1"/>
          <p:nvPr/>
        </p:nvSpPr>
        <p:spPr>
          <a:xfrm>
            <a:off x="8371636" y="5989320"/>
            <a:ext cx="290565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8371636" y="6199632"/>
            <a:ext cx="29056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−3 min on Sun + late-night  ·  4 to 6 weeks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640080" y="640080"/>
            <a:ext cx="320040" cy="320040"/>
          </a:xfrm>
          <a:prstGeom prst="ellipse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 txBox="1"/>
          <p:nvPr/>
        </p:nvSpPr>
        <p:spPr>
          <a:xfrm>
            <a:off x="1097280" y="640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THE TAKEAWAY</a:t>
            </a:r>
            <a:endParaRPr/>
          </a:p>
        </p:txBody>
      </p:sp>
      <p:sp>
        <p:nvSpPr>
          <p:cNvPr id="361" name="Google Shape;361;p22"/>
          <p:cNvSpPr txBox="1"/>
          <p:nvPr/>
        </p:nvSpPr>
        <p:spPr>
          <a:xfrm>
            <a:off x="640080" y="182880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lever is volume,</a:t>
            </a:r>
            <a:endParaRPr/>
          </a:p>
        </p:txBody>
      </p:sp>
      <p:sp>
        <p:nvSpPr>
          <p:cNvPr id="362" name="Google Shape;362;p22"/>
          <p:cNvSpPr txBox="1"/>
          <p:nvPr/>
        </p:nvSpPr>
        <p:spPr>
          <a:xfrm>
            <a:off x="640080" y="283464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not variance.</a:t>
            </a:r>
            <a:endParaRPr/>
          </a:p>
        </p:txBody>
      </p:sp>
      <p:sp>
        <p:nvSpPr>
          <p:cNvPr id="363" name="Google Shape;363;p22"/>
          <p:cNvSpPr txBox="1"/>
          <p:nvPr/>
        </p:nvSpPr>
        <p:spPr>
          <a:xfrm>
            <a:off x="640080" y="3977639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Three plays. Same data foundation. Same dashboard, refreshed every Monday at 03:00 UTC. ATD is how we earn the next Mexican consumer who already has Didi or Rappi on their phone.</a:t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914400" y="5349240"/>
            <a:ext cx="457200" cy="457200"/>
          </a:xfrm>
          <a:prstGeom prst="ellipse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 txBox="1"/>
          <p:nvPr/>
        </p:nvSpPr>
        <p:spPr>
          <a:xfrm>
            <a:off x="914400" y="5349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366" name="Google Shape;366;p22"/>
          <p:cNvSpPr txBox="1"/>
          <p:nvPr/>
        </p:nvSpPr>
        <p:spPr>
          <a:xfrm>
            <a:off x="1508760" y="5349240"/>
            <a:ext cx="2448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COACH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1508760" y="5623560"/>
            <a:ext cx="24484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Close the courier slow tail.</a:t>
            </a: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4643018" y="5349240"/>
            <a:ext cx="457200" cy="457200"/>
          </a:xfrm>
          <a:prstGeom prst="ellipse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4643018" y="5349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5237378" y="5349240"/>
            <a:ext cx="2448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MOVE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5237378" y="5623560"/>
            <a:ext cx="24484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Slow merchants onto POS.</a:t>
            </a:r>
            <a:endParaRPr/>
          </a:p>
        </p:txBody>
      </p:sp>
      <p:sp>
        <p:nvSpPr>
          <p:cNvPr id="372" name="Google Shape;372;p22"/>
          <p:cNvSpPr/>
          <p:nvPr/>
        </p:nvSpPr>
        <p:spPr>
          <a:xfrm>
            <a:off x="8371636" y="5349240"/>
            <a:ext cx="457200" cy="457200"/>
          </a:xfrm>
          <a:prstGeom prst="ellipse">
            <a:avLst/>
          </a:prstGeom>
          <a:solidFill>
            <a:srgbClr val="06C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8371636" y="5349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161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8965996" y="5349240"/>
            <a:ext cx="244845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6C167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8965996" y="5623560"/>
            <a:ext cx="24484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Supply against the curve.</a:t>
            </a:r>
            <a:endParaRPr/>
          </a:p>
        </p:txBody>
      </p:sp>
      <p:sp>
        <p:nvSpPr>
          <p:cNvPr id="376" name="Google Shape;376;p22"/>
          <p:cNvSpPr/>
          <p:nvPr/>
        </p:nvSpPr>
        <p:spPr>
          <a:xfrm>
            <a:off x="640080" y="6355080"/>
            <a:ext cx="10911535" cy="914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THANK YOU  ·  QUESTIONS WELCOME</a:t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